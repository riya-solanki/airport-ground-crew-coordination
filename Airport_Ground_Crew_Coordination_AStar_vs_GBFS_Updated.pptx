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879" r:id="rId2"/>
    <p:sldId id="897" r:id="rId3"/>
    <p:sldId id="899" r:id="rId4"/>
    <p:sldId id="900" r:id="rId5"/>
    <p:sldId id="901" r:id="rId6"/>
    <p:sldId id="902" r:id="rId7"/>
    <p:sldId id="903" r:id="rId8"/>
    <p:sldId id="904" r:id="rId9"/>
    <p:sldId id="905" r:id="rId10"/>
    <p:sldId id="906" r:id="rId11"/>
    <p:sldId id="908" r:id="rId12"/>
    <p:sldId id="7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1667"/>
    <a:srgbClr val="F48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0B29E-CB27-4696-B027-F1589D3CF0D3}" v="35" dt="2025-11-24T16:38:17.100"/>
    <p1510:client id="{2B34994D-0A49-99A4-551F-B5A13D0AD1C2}" v="116" dt="2025-11-24T20:54:47.424"/>
    <p1510:client id="{70CA6C25-F119-B15B-CA2D-A74ED650E7EE}" v="12" dt="2025-11-25T03:28:43.836"/>
    <p1510:client id="{7334B5D5-A3E5-FD55-295D-EB2A674F68AE}" v="18" dt="2025-11-25T03:38:44.285"/>
    <p1510:client id="{CD673BE6-82FC-7D1E-3284-A468F11FABA2}" v="43" dt="2025-11-25T03:52:27.766"/>
    <p1510:client id="{E1591ABD-4089-B6F1-8AAE-3FD1013431FE}" v="349" dt="2025-11-24T18:16:26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217A6-CB41-4341-8C4A-EBD25C7C2FAC}" type="datetimeFigureOut">
              <a:rPr lang="en-IN" smtClean="0"/>
              <a:pPr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63FEB-7600-4757-BD9D-D1F0ADF3872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9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01C-3D73-9145-9D27-022775352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C3C5-2E28-584B-9E08-C350F0473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AA21-1AC4-EE4A-9EE6-2CF24966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17B80-16F2-43B0-A4DC-ED53563881B0}" type="datetimeFigureOut">
              <a:rPr lang="en-IN" smtClean="0"/>
              <a:pPr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6A89-F6F6-594C-B1D8-D2FE52E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7059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137256"/>
            <a:ext cx="11436823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194" y="348661"/>
            <a:ext cx="11436823" cy="421441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412491"/>
            <a:ext cx="12218977" cy="47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3F47-3531-4371-B8DB-59E457D07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4" y="6520072"/>
            <a:ext cx="1262820" cy="2839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3239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015E1-575C-CC43-8E0C-38A94C0D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0D65-9225-7C42-BE9D-7E7ACD23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5A4A-C107-8941-A91D-265C6703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17B80-16F2-43B0-A4DC-ED53563881B0}" type="datetimeFigureOut">
              <a:rPr lang="en-IN" smtClean="0"/>
              <a:pPr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8F1F-AA4B-E44F-87CA-30B4D3D4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6259-99F7-DF4A-8A42-0737A8CC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8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39291-6610-AB0B-C87C-6DF906A0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108" y="875998"/>
            <a:ext cx="11436823" cy="5220001"/>
          </a:xfrm>
        </p:spPr>
        <p:txBody>
          <a:bodyPr>
            <a:noAutofit/>
          </a:bodyPr>
          <a:lstStyle/>
          <a:p>
            <a:pPr marL="241300" marR="6985" indent="-229235" algn="just">
              <a:lnSpc>
                <a:spcPct val="148300"/>
              </a:lnSpc>
              <a:spcBef>
                <a:spcPts val="114"/>
              </a:spcBef>
              <a:buNone/>
              <a:tabLst>
                <a:tab pos="241300" algn="l"/>
                <a:tab pos="241935" algn="l"/>
              </a:tabLst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88" y="474291"/>
            <a:ext cx="11436823" cy="1770742"/>
          </a:xfrm>
        </p:spPr>
        <p:txBody>
          <a:bodyPr/>
          <a:lstStyle/>
          <a:p>
            <a:pPr marL="0" indent="0" algn="ctr" defTabSz="702076">
              <a:defRPr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Ground-Crew Coordination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Routing System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6439" y="4292114"/>
            <a:ext cx="5852160" cy="9407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 dirty="0">
                <a:solidFill>
                  <a:srgbClr val="151716"/>
                </a:solidFill>
                <a:latin typeface="Georgia"/>
              </a:rPr>
              <a:t>Riya Solanki</a:t>
            </a:r>
            <a:endParaRPr lang="en-GB" sz="2400" b="1" i="0" dirty="0">
              <a:solidFill>
                <a:srgbClr val="151716"/>
              </a:solidFill>
              <a:latin typeface="Georgia"/>
            </a:endParaRPr>
          </a:p>
          <a:p>
            <a:pPr algn="ctr">
              <a:spcAft>
                <a:spcPts val="1000"/>
              </a:spcAft>
            </a:pPr>
            <a:r>
              <a:rPr lang="en-IN" sz="2400" b="1" dirty="0">
                <a:solidFill>
                  <a:srgbClr val="151716"/>
                </a:solidFill>
                <a:latin typeface="Georgia"/>
              </a:rPr>
              <a:t>BL.EN.U4CSE23065</a:t>
            </a:r>
            <a:endParaRPr sz="2400" b="1" i="0" dirty="0">
              <a:solidFill>
                <a:srgbClr val="151716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12199" y="2646740"/>
            <a:ext cx="5120640" cy="9407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 dirty="0">
                <a:solidFill>
                  <a:srgbClr val="151716"/>
                </a:solidFill>
                <a:latin typeface="Georgia"/>
              </a:rPr>
              <a:t>PRESENTED TO :</a:t>
            </a:r>
          </a:p>
          <a:p>
            <a:pPr algn="ctr">
              <a:spcAft>
                <a:spcPts val="1000"/>
              </a:spcAft>
            </a:pPr>
            <a:r>
              <a:rPr sz="2400" b="1" i="0" dirty="0">
                <a:solidFill>
                  <a:srgbClr val="151716"/>
                </a:solidFill>
                <a:latin typeface="Georgia"/>
              </a:rPr>
              <a:t>Ms. </a:t>
            </a:r>
            <a:r>
              <a:rPr lang="en-GB" sz="2400" b="1" i="0" dirty="0">
                <a:solidFill>
                  <a:srgbClr val="151716"/>
                </a:solidFill>
                <a:latin typeface="Georgia"/>
              </a:rPr>
              <a:t>Pooja G</a:t>
            </a:r>
            <a:endParaRPr sz="2400" b="1" i="0" dirty="0">
              <a:solidFill>
                <a:srgbClr val="151716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Introduction to 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Multiple ground-service vehicles operate simultaneously at an airport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039112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Vehicles travel between depots, taxiways and aircraft gates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60904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78024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Shared paths can create conflicts between vehicles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82696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9816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Gates are limited shared resources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04488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21608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Different service vehicles may have different priorities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26280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5486400" cy="60350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Dynamic events can require vehicles to replan their routes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6636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" rIns="27432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Goal:</a:t>
            </a:r>
            <a:r>
              <a:rPr sz="2000" b="0" i="0">
                <a:solidFill>
                  <a:srgbClr val="FFFFFF"/>
                </a:solidFill>
                <a:latin typeface="Times New Roman"/>
              </a:rPr>
              <a:t> Find efficient routes while minimizing conflicts, waiting time, and overall completion time.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PEAS &amp; Environment Properties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427367"/>
              </p:ext>
            </p:extLst>
          </p:nvPr>
        </p:nvGraphicFramePr>
        <p:xfrm>
          <a:off x="457200" y="1234440"/>
          <a:ext cx="7040880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PEAS Component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51716"/>
                          </a:solidFill>
                          <a:latin typeface="Times New Roman"/>
                        </a:rPr>
                        <a:t>Performance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51716"/>
                          </a:solidFill>
                          <a:latin typeface="Times New Roman"/>
                        </a:rPr>
                        <a:t>Minimize travel distance, waiting time, conflicts and makespan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51716"/>
                          </a:solidFill>
                          <a:latin typeface="Times New Roman"/>
                        </a:rPr>
                        <a:t>Environment</a:t>
                      </a:r>
                    </a:p>
                  </a:txBody>
                  <a:tcPr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51716"/>
                          </a:solidFill>
                          <a:latin typeface="Times New Roman"/>
                        </a:rPr>
                        <a:t>Airport grid with obstacles, gates, depot and service areas</a:t>
                      </a:r>
                    </a:p>
                  </a:txBody>
                  <a:tcPr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51716"/>
                          </a:solidFill>
                          <a:latin typeface="Times New Roman"/>
                        </a:rPr>
                        <a:t>Actuators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Move, wait, follow a route, service, return, replan, update priority, and redirect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51716"/>
                          </a:solidFill>
                          <a:latin typeface="Times New Roman"/>
                        </a:rPr>
                        <a:t>Sensors</a:t>
                      </a:r>
                    </a:p>
                  </a:txBody>
                  <a:tcPr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151716"/>
                          </a:solidFill>
                          <a:latin typeface="Times New Roman"/>
                        </a:rPr>
                        <a:t>Position, destination, gate availability, reservations, priorities and events</a:t>
                      </a:r>
                    </a:p>
                  </a:txBody>
                  <a:tcPr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188720"/>
            <a:ext cx="4023360" cy="38404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Environment Properties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9164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Multi-Agent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313432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Dynamic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935224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Discrete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557016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Sequential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178808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Deterministic</a:t>
            </a: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Multi-Agent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18872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Airport Environment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77639" y="1691640"/>
            <a:ext cx="0" cy="41148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103120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Coordinator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2900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Fuel</a:t>
            </a:r>
          </a:p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Agent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280160" y="2743200"/>
            <a:ext cx="2697479" cy="685800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4297680"/>
            <a:ext cx="2697479" cy="5486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58568" y="342900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Baggage</a:t>
            </a:r>
          </a:p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Agent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81528" y="2743200"/>
            <a:ext cx="896111" cy="685800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81528" y="4297680"/>
            <a:ext cx="896111" cy="5486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59936" y="342900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Catering</a:t>
            </a:r>
          </a:p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743200"/>
            <a:ext cx="905257" cy="685800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977639" y="4297680"/>
            <a:ext cx="905257" cy="5486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61304" y="342900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Maintenance</a:t>
            </a:r>
          </a:p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2743200"/>
            <a:ext cx="2706625" cy="685800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77639" y="4297680"/>
            <a:ext cx="2706625" cy="5486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31720" y="484632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Airport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7040880" cy="54864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imes New Roman"/>
              </a:rPr>
              <a:t>Different service roles, one shared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188720"/>
            <a:ext cx="3566160" cy="38404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Each service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72768"/>
            <a:ext cx="35661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 dirty="0">
                <a:solidFill>
                  <a:srgbClr val="151716"/>
                </a:solidFill>
                <a:latin typeface="Times New Roman"/>
              </a:rPr>
              <a:t>Perceive</a:t>
            </a:r>
          </a:p>
          <a:p>
            <a:pPr algn="ctr"/>
            <a:r>
              <a:rPr sz="1600" b="0" i="0" dirty="0">
                <a:solidFill>
                  <a:srgbClr val="151716"/>
                </a:solidFill>
                <a:latin typeface="Times New Roman"/>
              </a:rPr>
              <a:t>Read the environment state</a:t>
            </a:r>
            <a:endParaRPr lang="en-GB" sz="1600" b="0" i="0" dirty="0">
              <a:solidFill>
                <a:srgbClr val="151716"/>
              </a:solidFill>
              <a:latin typeface="Times New Roman"/>
            </a:endParaRPr>
          </a:p>
          <a:p>
            <a:pPr algn="ctr"/>
            <a:r>
              <a:rPr lang="en-IN" sz="1600" dirty="0">
                <a:solidFill>
                  <a:srgbClr val="151716"/>
                </a:solidFill>
                <a:latin typeface="Times New Roman"/>
              </a:rPr>
              <a:t>Position, destination, gate availability, status and message (wait or replan)</a:t>
            </a:r>
            <a:endParaRPr sz="1600" b="0" i="0" dirty="0">
              <a:solidFill>
                <a:srgbClr val="151716"/>
              </a:solidFill>
              <a:latin typeface="Times New Roman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921240" y="2651760"/>
            <a:ext cx="0" cy="411479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60" y="3063239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905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Decide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</a:rPr>
              <a:t>Plan route (Cooperative A* or GBFS)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21240" y="3977639"/>
            <a:ext cx="0" cy="411481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8160" y="438912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151716"/>
                </a:solidFill>
                <a:latin typeface="Times New Roman"/>
              </a:rPr>
              <a:t>Act</a:t>
            </a:r>
          </a:p>
          <a:p>
            <a:pPr algn="ctr"/>
            <a:r>
              <a:rPr sz="1600" b="0" i="0">
                <a:solidFill>
                  <a:srgbClr val="151716"/>
                </a:solidFill>
                <a:latin typeface="Times New Roman"/>
              </a:rPr>
              <a:t>Move and perform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486400"/>
            <a:ext cx="3566160" cy="54864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imes New Roman"/>
              </a:rPr>
              <a:t>Perceive, Decide, Act loop</a:t>
            </a: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Workflow: From Input to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Input Environment and Agent Assignments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43584"/>
            <a:ext cx="329184" cy="32918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716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Scenario Selection</a:t>
            </a:r>
          </a:p>
        </p:txBody>
      </p:sp>
      <p:sp>
        <p:nvSpPr>
          <p:cNvPr id="7" name="Oval 6"/>
          <p:cNvSpPr/>
          <p:nvPr/>
        </p:nvSpPr>
        <p:spPr>
          <a:xfrm>
            <a:off x="2697479" y="1243584"/>
            <a:ext cx="329184" cy="32918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Algorithm Selection (Cooperative A* or GBFS)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1243584"/>
            <a:ext cx="329184" cy="329184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13716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Route Planning</a:t>
            </a:r>
          </a:p>
        </p:txBody>
      </p:sp>
      <p:sp>
        <p:nvSpPr>
          <p:cNvPr id="11" name="Oval 10"/>
          <p:cNvSpPr/>
          <p:nvPr/>
        </p:nvSpPr>
        <p:spPr>
          <a:xfrm>
            <a:off x="7360919" y="1243584"/>
            <a:ext cx="329184" cy="32918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3716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Agent Coordination and Conflict Checking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0" y="1243584"/>
            <a:ext cx="329184" cy="329184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Simulation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2798064"/>
            <a:ext cx="329184" cy="329184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92608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Metrics Collection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2697479" y="2798064"/>
            <a:ext cx="329184" cy="32918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92608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Performance Comparison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2798064"/>
            <a:ext cx="329184" cy="32918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1805940"/>
            <a:ext cx="411480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09160" y="1805940"/>
            <a:ext cx="411480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79" y="1805940"/>
            <a:ext cx="411480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72599" y="1805940"/>
            <a:ext cx="411481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3360420"/>
            <a:ext cx="411480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3360420"/>
            <a:ext cx="411480" cy="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44200" y="2240280"/>
            <a:ext cx="0" cy="338328"/>
          </a:xfrm>
          <a:prstGeom prst="line">
            <a:avLst/>
          </a:prstGeom>
          <a:ln w="25400">
            <a:solidFill>
              <a:srgbClr val="A41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417320" y="2578608"/>
            <a:ext cx="9326880" cy="0"/>
          </a:xfrm>
          <a:prstGeom prst="line">
            <a:avLst/>
          </a:prstGeom>
          <a:ln w="25400">
            <a:solidFill>
              <a:srgbClr val="A41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17320" y="2578608"/>
            <a:ext cx="0" cy="347472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206240"/>
            <a:ext cx="7315200" cy="38404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Scenarios supported: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9204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Normal Operation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89204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Gate Unavailable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489204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Emergency Priority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489204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Unreachable Goal</a:t>
            </a: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Search Techniques: Cooperative A* vs GBFS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52787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61872"/>
            <a:ext cx="5212080" cy="41148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2000" b="1" i="0">
                <a:solidFill>
                  <a:srgbClr val="151716"/>
                </a:solidFill>
                <a:latin typeface="Georgia"/>
              </a:rPr>
              <a:t>Greedy Best-First Search (GBFS)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64208"/>
            <a:ext cx="5212080" cy="32004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Times New Roman"/>
              </a:rPr>
              <a:t>Heuristic-only search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2258568"/>
            <a:ext cx="109728" cy="10972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7" y="2103120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Evaluation: f(n) = h(n)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642615"/>
            <a:ext cx="109728" cy="10972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7" y="2487168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Expands the node that looks closest to the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188720"/>
            <a:ext cx="5486400" cy="252787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3175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261872"/>
            <a:ext cx="5212080" cy="41148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2000" b="1" i="0">
                <a:solidFill>
                  <a:srgbClr val="A4123F"/>
                </a:solidFill>
                <a:latin typeface="Georgia"/>
              </a:rPr>
              <a:t>Cooperative A*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664208"/>
            <a:ext cx="5212080" cy="32004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Times New Roman"/>
              </a:rPr>
              <a:t>Cost + heuristic search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2103120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Evaluation: f(n) = g(n) + h(n)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2642615"/>
            <a:ext cx="109728" cy="10972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2487168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Weighs cost so far and estimated remaining cost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026663"/>
            <a:ext cx="109728" cy="10972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2871215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Routes planned under the simulation's constraints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3410711"/>
            <a:ext cx="109728" cy="10972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3255263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Optimal multi-agent coordination not claimed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4343400"/>
          <a:ext cx="112471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Evaluation Function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Uses Path Cost g(n)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Node Priority</a:t>
                      </a:r>
                    </a:p>
                  </a:txBody>
                  <a:tcPr marT="36576" marB="36576" anchor="ctr"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51716"/>
                          </a:solidFill>
                          <a:latin typeface="Times New Roman"/>
                        </a:rPr>
                        <a:t>Cooperative A*</a:t>
                      </a:r>
                    </a:p>
                  </a:txBody>
                  <a:tcPr marT="36576" marB="36576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51716"/>
                          </a:solidFill>
                          <a:latin typeface="Times New Roman"/>
                        </a:rPr>
                        <a:t>f(n) = g(n) + h(n)</a:t>
                      </a:r>
                    </a:p>
                  </a:txBody>
                  <a:tcPr marT="36576" marB="36576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51716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T="36576" marB="36576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51716"/>
                          </a:solidFill>
                          <a:latin typeface="Times New Roman"/>
                        </a:rPr>
                        <a:t>Cost so far + remaining estimate</a:t>
                      </a:r>
                    </a:p>
                  </a:txBody>
                  <a:tcPr marT="36576" marB="36576" anchor="ctr">
                    <a:solidFill>
                      <a:srgbClr val="F2C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51716"/>
                          </a:solidFill>
                          <a:latin typeface="Times New Roman"/>
                        </a:rPr>
                        <a:t>Greedy Best-First Search (GBFS)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51716"/>
                          </a:solidFill>
                          <a:latin typeface="Times New Roman"/>
                        </a:rPr>
                        <a:t>f(n) = h(n)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51716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51716"/>
                          </a:solidFill>
                          <a:latin typeface="Times New Roman"/>
                        </a:rPr>
                        <a:t>Estimated remaining cost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Oval 8"/>
          <p:cNvSpPr/>
          <p:nvPr/>
        </p:nvSpPr>
        <p:spPr>
          <a:xfrm>
            <a:off x="6400800" y="3410711"/>
            <a:ext cx="109728" cy="10972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35" name="TextBox 9"/>
          <p:cNvSpPr txBox="1"/>
          <p:nvPr/>
        </p:nvSpPr>
        <p:spPr>
          <a:xfrm>
            <a:off x="6614160" y="2901497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 dirty="0">
                <a:solidFill>
                  <a:srgbClr val="151716"/>
                </a:solidFill>
                <a:latin typeface="Times New Roman"/>
              </a:rPr>
              <a:t>Routes planned under the simulation's constraints</a:t>
            </a:r>
          </a:p>
        </p:txBody>
      </p:sp>
      <p:sp>
        <p:nvSpPr>
          <p:cNvPr id="36" name="Oval 8"/>
          <p:cNvSpPr/>
          <p:nvPr/>
        </p:nvSpPr>
        <p:spPr>
          <a:xfrm>
            <a:off x="6396670" y="3036810"/>
            <a:ext cx="109728" cy="10972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37" name="TextBox 9"/>
          <p:cNvSpPr txBox="1"/>
          <p:nvPr/>
        </p:nvSpPr>
        <p:spPr>
          <a:xfrm>
            <a:off x="6629400" y="3236976"/>
            <a:ext cx="4937760" cy="384048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 dirty="0">
                <a:solidFill>
                  <a:srgbClr val="151716"/>
                </a:solidFill>
                <a:latin typeface="Times New Roman"/>
              </a:rPr>
              <a:t>Optimal route not guaranteed</a:t>
            </a: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Cooperative Routing and Conflict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Candidate Route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69164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92024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Reservation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2316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65176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Vertex Conflict Check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315468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38328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Edge-Swap Conflict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388620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11480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Gate / Resource Reservation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461772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484632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Safe Route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5349240"/>
            <a:ext cx="0" cy="228600"/>
          </a:xfrm>
          <a:prstGeom prst="line">
            <a:avLst/>
          </a:prstGeom>
          <a:ln w="25400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557784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Execute / Replan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40"/>
            <a:ext cx="3383280" cy="36576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Vertex Conflict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383280" cy="137160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Two vehicles cannot occupy the same location at the same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18872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1234440"/>
            <a:ext cx="3383280" cy="365760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Edge-Swap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645920"/>
            <a:ext cx="3383280" cy="137160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/>
            <a:r>
              <a:rPr sz="1600" b="0" i="0">
                <a:solidFill>
                  <a:srgbClr val="151716"/>
                </a:solidFill>
                <a:latin typeface="Times New Roman"/>
              </a:rPr>
              <a:t>Two vehicles cannot swap positions through the same edge in opposite directions at the same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337560"/>
            <a:ext cx="7315200" cy="38404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600" b="1" i="0">
                <a:solidFill>
                  <a:srgbClr val="595959"/>
                </a:solidFill>
                <a:latin typeface="Georgia"/>
              </a:rPr>
              <a:t>Conceptual grid example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947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64607" y="37947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22975" y="37947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81344" y="37947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39712" y="37947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06240" y="445312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64607" y="445312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522975" y="4453128"/>
            <a:ext cx="658368" cy="658368"/>
          </a:xfrm>
          <a:prstGeom prst="rect">
            <a:avLst/>
          </a:prstGeom>
          <a:solidFill>
            <a:srgbClr val="F2C4D0"/>
          </a:solidFill>
          <a:ln w="3175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81344" y="445312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39712" y="445312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06240" y="5111496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64607" y="5111496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22975" y="5111496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81344" y="5111496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39712" y="5111496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4791456" y="4782312"/>
            <a:ext cx="237744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52159" y="4379976"/>
            <a:ext cx="0" cy="146304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306824" y="4553712"/>
            <a:ext cx="457200" cy="457200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5623559" y="3895344"/>
            <a:ext cx="457200" cy="457200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B</a:t>
            </a:r>
          </a:p>
        </p:txBody>
      </p:sp>
      <p:sp>
        <p:nvSpPr>
          <p:cNvPr id="43" name="Oval 42"/>
          <p:cNvSpPr/>
          <p:nvPr/>
        </p:nvSpPr>
        <p:spPr>
          <a:xfrm>
            <a:off x="7863840" y="4041648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840480"/>
            <a:ext cx="3520440" cy="640080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Vehicles A and B both claim the highlighted cell at the same time step</a:t>
            </a:r>
          </a:p>
        </p:txBody>
      </p:sp>
      <p:sp>
        <p:nvSpPr>
          <p:cNvPr id="45" name="Oval 44"/>
          <p:cNvSpPr/>
          <p:nvPr/>
        </p:nvSpPr>
        <p:spPr>
          <a:xfrm>
            <a:off x="7863840" y="4700016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498848"/>
            <a:ext cx="3520440" cy="640080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The </a:t>
            </a:r>
            <a:r>
              <a:rPr sz="1400" b="1" i="0">
                <a:solidFill>
                  <a:srgbClr val="151716"/>
                </a:solidFill>
                <a:latin typeface="Times New Roman"/>
              </a:rPr>
              <a:t>Reservation Table</a:t>
            </a:r>
            <a:r>
              <a:rPr sz="1400" b="0" i="0">
                <a:solidFill>
                  <a:srgbClr val="151716"/>
                </a:solidFill>
                <a:latin typeface="Times New Roman"/>
              </a:rPr>
              <a:t> rejects the second claim</a:t>
            </a:r>
          </a:p>
        </p:txBody>
      </p:sp>
      <p:sp>
        <p:nvSpPr>
          <p:cNvPr id="47" name="Oval 46"/>
          <p:cNvSpPr/>
          <p:nvPr/>
        </p:nvSpPr>
        <p:spPr>
          <a:xfrm>
            <a:off x="7863840" y="5358384"/>
            <a:ext cx="219456" cy="219456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5157216"/>
            <a:ext cx="3520440" cy="640080"/>
          </a:xfrm>
          <a:prstGeom prst="rect">
            <a:avLst/>
          </a:prstGeom>
          <a:noFill/>
        </p:spPr>
        <p:txBody>
          <a:bodyPr wrap="square" lIns="27432" tIns="36576" rIns="27432" bIns="36576" anchor="ctr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B is routed to wait, so the conflict is avoided</a:t>
            </a: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Simulation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7889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0" i="1" dirty="0">
                <a:solidFill>
                  <a:srgbClr val="595959"/>
                </a:solidFill>
                <a:latin typeface="Times New Roman"/>
              </a:rPr>
              <a:t>Latest GUI screenshot to be inserted</a:t>
            </a:r>
          </a:p>
          <a:p>
            <a:pPr algn="ctr"/>
            <a:r>
              <a:rPr sz="1400" b="0" i="1" dirty="0">
                <a:solidFill>
                  <a:srgbClr val="595959"/>
                </a:solidFill>
                <a:latin typeface="Times New Roman"/>
              </a:rPr>
              <a:t>(dashboard with the four scenarios and two algorithms)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486400" cy="38404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800" b="1" i="0">
                <a:solidFill>
                  <a:srgbClr val="A4123F"/>
                </a:solidFill>
                <a:latin typeface="Georgia"/>
              </a:rPr>
              <a:t>Tracked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Total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Waiting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57200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Makespan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7492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Conflicts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07492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Nodes Expanded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07492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Planning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77840"/>
            <a:ext cx="1737360" cy="420624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400" b="1" i="0">
                <a:solidFill>
                  <a:srgbClr val="151716"/>
                </a:solidFill>
                <a:latin typeface="Times New Roman"/>
              </a:rPr>
              <a:t>Completed / No-Path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1243584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188720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Initialize Agents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1609344"/>
            <a:ext cx="0" cy="210312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55080" y="1874519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819656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Assign Destinations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2240280"/>
            <a:ext cx="0" cy="210311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355080" y="2505456"/>
            <a:ext cx="310896" cy="310896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450591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Plan Routes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35440" y="2871215"/>
            <a:ext cx="0" cy="210312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355080" y="3136392"/>
            <a:ext cx="310896" cy="310896"/>
          </a:xfrm>
          <a:prstGeom prst="ellipse">
            <a:avLst/>
          </a:prstGeom>
          <a:solidFill>
            <a:srgbClr val="7A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3081528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A4123F"/>
          </a:solidFill>
          <a:ln w="127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Reserve Shared Resources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35440" y="3502152"/>
            <a:ext cx="0" cy="210312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55080" y="3767327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12463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Execute Movement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133087"/>
            <a:ext cx="0" cy="210313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355080" y="4398264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4343400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Monitor Conflicts / Events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40" y="4764024"/>
            <a:ext cx="0" cy="210312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55080" y="5029199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4974336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Replan When Required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35440" y="5394959"/>
            <a:ext cx="0" cy="210312"/>
          </a:xfrm>
          <a:prstGeom prst="line">
            <a:avLst/>
          </a:prstGeom>
          <a:ln w="22225">
            <a:solidFill>
              <a:srgbClr val="A41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355080" y="5660136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5605272"/>
            <a:ext cx="4846320" cy="4206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51716"/>
                </a:solidFill>
                <a:latin typeface="Times New Roman"/>
              </a:rPr>
              <a:t>Complete Service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BF059C0-AE17-10BD-2E19-D6D66C4FB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17" y="1188721"/>
            <a:ext cx="5486398" cy="278892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Demonstration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74980"/>
            <a:ext cx="5486400" cy="32008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600" b="1" i="0" dirty="0">
                <a:solidFill>
                  <a:srgbClr val="595959"/>
                </a:solidFill>
                <a:latin typeface="Georgia"/>
              </a:rPr>
              <a:t>Four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2377440" cy="68580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600" b="1" i="0">
                <a:solidFill>
                  <a:srgbClr val="A4123F"/>
                </a:solidFill>
                <a:latin typeface="Georgia"/>
              </a:rPr>
              <a:t>Normal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2377440" cy="128016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Ground-service agents travel to their assigned gates under normal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0" y="173736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240280"/>
            <a:ext cx="2377440" cy="68580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600" b="1" i="0">
                <a:solidFill>
                  <a:srgbClr val="A4123F"/>
                </a:solidFill>
                <a:latin typeface="Georgia"/>
              </a:rPr>
              <a:t>Gate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17520"/>
            <a:ext cx="2377440" cy="128016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Gate B becomes unavailable, and the affected agent is redirected to Gate D before its route is replanned.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40280"/>
            <a:ext cx="2377440" cy="68580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600" b="1" i="0">
                <a:solidFill>
                  <a:srgbClr val="A4123F"/>
                </a:solidFill>
                <a:latin typeface="Georgia"/>
              </a:rPr>
              <a:t>Emergency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017520"/>
            <a:ext cx="2377440" cy="128016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FUEL01 receives emergency priority at simulation time step 5, and the fleet replans to accommodate the priority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0020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35440" y="173736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240280"/>
            <a:ext cx="2377440" cy="68580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600" b="1" i="0">
                <a:solidFill>
                  <a:srgbClr val="A4123F"/>
                </a:solidFill>
                <a:latin typeface="Georgia"/>
              </a:rPr>
              <a:t>Unreachable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3017520"/>
            <a:ext cx="2377440" cy="1280160"/>
          </a:xfrm>
          <a:prstGeom prst="rect">
            <a:avLst/>
          </a:prstGeom>
          <a:noFill/>
        </p:spPr>
        <p:txBody>
          <a:bodyPr wrap="square" lIns="27432" tIns="36576" rIns="27432" bIns="36576" anchor="t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The system identifies a destination that cannot be reached because of the obstacles in the environment.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228600" bIns="36576" rtlCol="0" anchor="ctr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51716"/>
                </a:solidFill>
                <a:latin typeface="Times New Roman"/>
              </a:rPr>
              <a:t>Same scenarios for both algorithms</a:t>
            </a:r>
          </a:p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151716"/>
                </a:solidFill>
                <a:latin typeface="Times New Roman"/>
              </a:rPr>
              <a:t> A* and GBFS are each run on all four scenarios; results follow.</a:t>
            </a: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eorgia"/>
              </a:rPr>
              <a:t>Results: A* vs GBFS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74980"/>
            <a:ext cx="11247120" cy="32008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l"/>
            <a:r>
              <a:rPr sz="1600" b="1" i="0" dirty="0">
                <a:solidFill>
                  <a:srgbClr val="595959"/>
                </a:solidFill>
                <a:latin typeface="Georgia"/>
              </a:rPr>
              <a:t>Recorded results for all four scenarios</a:t>
            </a:r>
            <a:r>
              <a:rPr lang="en-GB" sz="1600" b="1" dirty="0">
                <a:solidFill>
                  <a:srgbClr val="595959"/>
                </a:solidFill>
                <a:latin typeface="Georgia"/>
              </a:rPr>
              <a:t>:</a:t>
            </a:r>
            <a:endParaRPr sz="1600" b="1" i="0" dirty="0">
              <a:solidFill>
                <a:srgbClr val="595959"/>
              </a:solidFill>
              <a:latin typeface="Georgi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80"/>
            <a:ext cx="5486400" cy="11430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25400">
            <a:solidFill>
              <a:srgbClr val="A41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5303520" cy="365760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1" i="0">
                <a:solidFill>
                  <a:srgbClr val="A4123F"/>
                </a:solidFill>
                <a:latin typeface="Georgia"/>
              </a:rPr>
              <a:t>Zero conflicts in all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5303520" cy="86868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/>
            <a:r>
              <a:rPr sz="1400" b="0" i="0">
                <a:solidFill>
                  <a:srgbClr val="151716"/>
                </a:solidFill>
                <a:latin typeface="Times New Roman"/>
              </a:rPr>
              <a:t>Both algorithms recorded 0 conflicts. In Unreachable Goal, 1 vehicle completed and 1 had no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83480"/>
            <a:ext cx="5486400" cy="114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5029200"/>
            <a:ext cx="5303520" cy="365760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600" b="1" i="0">
                <a:solidFill>
                  <a:srgbClr val="151716"/>
                </a:solidFill>
                <a:latin typeface="Georgia"/>
              </a:rPr>
              <a:t>Emergency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394960"/>
            <a:ext cx="530352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151716"/>
                </a:solidFill>
                <a:latin typeface="Times New Roman"/>
              </a:rPr>
              <a:t>A*: distance 94, </a:t>
            </a:r>
            <a:r>
              <a:rPr sz="1400" b="0" i="0" dirty="0" err="1">
                <a:solidFill>
                  <a:srgbClr val="151716"/>
                </a:solidFill>
                <a:latin typeface="Times New Roman"/>
              </a:rPr>
              <a:t>makespan</a:t>
            </a:r>
            <a:r>
              <a:rPr sz="1400" b="0" i="0" dirty="0">
                <a:solidFill>
                  <a:srgbClr val="151716"/>
                </a:solidFill>
                <a:latin typeface="Times New Roman"/>
              </a:rPr>
              <a:t> 34. GBFS: distance 96, </a:t>
            </a:r>
            <a:r>
              <a:rPr sz="1400" b="0" i="0" dirty="0" err="1">
                <a:solidFill>
                  <a:srgbClr val="151716"/>
                </a:solidFill>
                <a:latin typeface="Times New Roman"/>
              </a:rPr>
              <a:t>makespan</a:t>
            </a:r>
            <a:r>
              <a:rPr sz="1400" b="0" i="0" dirty="0">
                <a:solidFill>
                  <a:srgbClr val="151716"/>
                </a:solidFill>
                <a:latin typeface="Times New Roman"/>
              </a:rPr>
              <a:t> 36.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54611"/>
              </p:ext>
            </p:extLst>
          </p:nvPr>
        </p:nvGraphicFramePr>
        <p:xfrm>
          <a:off x="457200" y="1600200"/>
          <a:ext cx="112471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Algorithm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Distance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Waiting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Makespan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Conflicts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Nodes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Runtime (ms)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Done / No-path</a:t>
                      </a:r>
                    </a:p>
                  </a:txBody>
                  <a:tcPr marL="73152" marR="73152" marT="27432" marB="27432" anchor="ctr"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1716"/>
                          </a:solidFill>
                          <a:latin typeface="Times New Roman"/>
                        </a:rPr>
                        <a:t>Normal Operation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5171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154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1.12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4 / 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93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1.24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4 / 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1716"/>
                          </a:solidFill>
                          <a:latin typeface="Times New Roman"/>
                        </a:rPr>
                        <a:t>Gate Unavailable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5171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1716"/>
                          </a:solidFill>
                          <a:latin typeface="Times New Roman"/>
                        </a:rPr>
                        <a:t>Emergency Priority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15171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34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389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1.98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4 / 0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171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1.84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4 / 0</a:t>
                      </a:r>
                    </a:p>
                  </a:txBody>
                  <a:tcPr marL="73152" marR="73152" marT="27432" marB="27432" anchor="ctr">
                    <a:solidFill>
                      <a:srgbClr val="F2C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1716"/>
                          </a:solidFill>
                          <a:latin typeface="Times New Roman"/>
                        </a:rPr>
                        <a:t>Unreachable Goal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5171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 /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51716"/>
                          </a:solidFill>
                          <a:latin typeface="Times New Roman"/>
                        </a:rPr>
                        <a:t>0.35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51716"/>
                          </a:solidFill>
                          <a:latin typeface="Times New Roman"/>
                        </a:rPr>
                        <a:t>1 /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Georgia"/>
              </a:rP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Developed a multi-agent system for airport ground-service routing and coordination.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Agents replan for Gate Unavailable and Emergency Priority events; the system identifies an Unreachable Goal.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88336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Cooperative A* and GBFS were compared across all four scenarios.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529584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38144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Trade-off: GBFS expanded fewer nodes; Cooperative A* recorded lower distance (94 vs 96) and makespan (34 vs 36) in Emergency Priority.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79392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Both recorded zero conflicts; the results do not show either algorithm is universally better.</a:t>
            </a:r>
          </a:p>
        </p:txBody>
      </p:sp>
      <p:sp>
        <p:nvSpPr>
          <p:cNvPr id="14" name="Oval 11"/>
          <p:cNvSpPr/>
          <p:nvPr/>
        </p:nvSpPr>
        <p:spPr>
          <a:xfrm>
            <a:off x="457200" y="5029200"/>
            <a:ext cx="384048" cy="384048"/>
          </a:xfrm>
          <a:prstGeom prst="ellipse">
            <a:avLst/>
          </a:prstGeom>
          <a:solidFill>
            <a:srgbClr val="A4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5" name="TextBox 12"/>
          <p:cNvSpPr txBox="1"/>
          <p:nvPr/>
        </p:nvSpPr>
        <p:spPr>
          <a:xfrm>
            <a:off x="1005840" y="4937760"/>
            <a:ext cx="10698480" cy="566928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/>
            <a:r>
              <a:rPr sz="1700" b="0" i="0">
                <a:solidFill>
                  <a:srgbClr val="151716"/>
                </a:solidFill>
                <a:latin typeface="Times New Roman"/>
              </a:rPr>
              <a:t>Future work: larger airport grids, more agents, repeated dynamic events, improved replanning, additional benchmarking.</a:t>
            </a: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852" y="3019290"/>
            <a:ext cx="11436823" cy="421441"/>
          </a:xfrm>
        </p:spPr>
        <p:txBody>
          <a:bodyPr/>
          <a:lstStyle/>
          <a:p>
            <a:pPr algn="ctr"/>
            <a:r>
              <a:rPr lang="en-IN" sz="440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091" y="3657600"/>
            <a:ext cx="11437315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800" b="0" i="0">
                <a:solidFill>
                  <a:srgbClr val="595959"/>
                </a:solidFill>
                <a:latin typeface="Georgia"/>
              </a:rPr>
              <a:t>Questions?</a:t>
            </a:r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NAAC PR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 Day 1" id="{1050CA0A-CE8E-48ED-8F62-CC6BA02C8BF2}" vid="{C31685F0-4043-44CE-9A5A-A5C2439D0C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Amrita College Presentation Template</Template>
  <TotalTime>51</TotalTime>
  <Words>972</Words>
  <Application>Microsoft Office PowerPoint</Application>
  <PresentationFormat>Widescreen</PresentationFormat>
  <Paragraphs>268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NAAC PRT Template</vt:lpstr>
      <vt:lpstr>Airport Ground-Crew Coordination A Multi-Agent Routing System</vt:lpstr>
      <vt:lpstr>Introduction to the Problem</vt:lpstr>
      <vt:lpstr>PEAS &amp; Environment Properties</vt:lpstr>
      <vt:lpstr>Multi-Agent System Architecture</vt:lpstr>
      <vt:lpstr>Workflow: From Input to Performance Comparison</vt:lpstr>
      <vt:lpstr>Search Techniques: Cooperative A* vs GBFS</vt:lpstr>
      <vt:lpstr>Cooperative Routing and Conflict Handling</vt:lpstr>
      <vt:lpstr>Simulation Execution</vt:lpstr>
      <vt:lpstr>Demonstration Scenarios</vt:lpstr>
      <vt:lpstr>Results: A* vs GBFS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Sajitha Krishnan</dc:creator>
  <cp:lastModifiedBy>RIYA SOLANKI-[BL.EN.U4CSE23065]</cp:lastModifiedBy>
  <cp:revision>32</cp:revision>
  <dcterms:created xsi:type="dcterms:W3CDTF">2024-07-16T16:42:38Z</dcterms:created>
  <dcterms:modified xsi:type="dcterms:W3CDTF">2026-10-12T03:32:21Z</dcterms:modified>
</cp:coreProperties>
</file>